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全钙钛矿叠层太阳能电池技术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All-Perovskite Tandem Solar Cells: Progress, Challenges &amp; Perspectives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383280"/>
            <a:ext cx="3017520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报告人  |  单位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2026年5月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5486400"/>
            <a:ext cx="91440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0" y="5486400"/>
            <a:ext cx="9144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5486400"/>
            <a:ext cx="9144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2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报告提纲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研究背景与意义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14883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光伏发展现状与钙钛矿材料的崛起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3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346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单结太阳能电池的效率极限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88035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Shockley-Queisser极限与叠层突破思路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66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全钙钛矿叠层电池结构与原理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611879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宽带隙/窄带隙子电池设计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976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97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关键技术挑战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343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相稳定性、锡铅混合、互联层、大面积制备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29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最新研究进展与效率纪录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074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2024-2026里程碑成果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7607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稳定性与规模化前景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806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商业化挑战与未来展望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3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研究背景：光伏技术的快速发展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Research Background: Rapid Development of Photovoltaics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FF"/>
                </a:solidFill>
                <a:latin typeface="Microsoft YaHei"/>
              </a:defRPr>
            </a:pPr>
            <a:r>
              <a:t>全球光伏装机量 (2025)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39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累计装机突破 2 TWp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年新增装机 &gt; 500 GW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中国占全球新增装机 ~50%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光伏已成最便宜电力来源之一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2402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晶硅电池的瓶颈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06039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实验室效率接近 27% 极限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单结理论极限 ~29.4% (S-Q)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效率提升空间日益收窄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亟需新一代高效率低成本技术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383280" cy="201168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24027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钙钛矿：变革性材料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606039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2009年效率 3.8% → 2025年 &gt;26%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带隙可调 1.2-2.3 eV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溶液法制备，成本低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缺陷容忍度高，开路电压高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FFF"/>
                </a:solidFill>
                <a:latin typeface="Microsoft YaHei"/>
              </a:defRPr>
            </a:pPr>
            <a:r>
              <a:t>▎核心思路：超越单结Shockley-Queisser极限 → 叠层电池 → 全钙钛矿叠层（成本最低的叠层路线）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钙钛矿效率演进：  2009: 3.8% → 2016: 22.1% → 2020: 25.5% → 2023: 26.1% → 2025: 26.7% (认证)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NREL Best Research-Cell Efficiency Chart, 2025; J. Phys. Chem. Lett. 2013, 4, 3623; Science 2024, 386, 1028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4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从单结到叠层：突破 S-Q 极限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Beyond Single Junction: Breaking the Shockley-Queisser Limit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Shockley-Queisser 极限 (~1961)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39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单结太阳能电池的理论效率上限：~33.7%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(最佳带隙 ~1.34 eV)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两大损失机制：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① 亚带隙光子透射损失 (Below-Eg loss)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  → 低能光子不被吸收，能量浪费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② 热化损失 (Thermalization loss)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  → 高能光子多余能量以热耗散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单结 Si 电池极限：~29.4%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当前实验室纪录：~27.3% (LONGi, 2024)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晶硅电池已逼近其理论天花板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5212080" cy="384048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2402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FF"/>
                </a:solidFill>
                <a:latin typeface="Microsoft YaHei"/>
              </a:defRPr>
            </a:pPr>
            <a:r>
              <a:t>叠层策略：光谱分光利用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06039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核心思想：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宽带隙顶电池吸收高能光子 (紫外-可见)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窄带隙底电池吸收低能光子 (近红外)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→ 减小热化损失 + 利用更多光谱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理论效率上限：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• 双结叠层：~45%（极限）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• 三结叠层：~50%（极限）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叠层电池分类：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• III-V 族 (GaAs/GaInP)：效率最高，成本极高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• 钙钛矿/晶硅叠层：效率 &gt; 34% (2025)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• 全钙钛矿叠层：全部溶液法制备，成本最低 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Microsoft YaHei"/>
              </a:defRPr>
            </a:pPr>
            <a:r>
              <a:t>▎全钙钛矿叠层 = 最低成本路线 + 高效率潜力 + 柔性/轻质应用前景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5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全钙钛矿叠层电池：器件结构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Device Architecture of All-Perovskite Tandem Solar Cells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4572000" cy="37490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Glass / 柔性基底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31136"/>
            <a:ext cx="45720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ITO 透明电极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33472"/>
            <a:ext cx="4572000" cy="374904"/>
          </a:xfrm>
          <a:prstGeom prst="rect">
            <a:avLst/>
          </a:prstGeom>
          <a:solidFill>
            <a:srgbClr val="66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空穴传输层 (HTL)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6151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NiOx, PTAA, MeO-2PACz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035808"/>
            <a:ext cx="4572000" cy="37490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宽带隙钙钛矿顶电池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~1.75-1.85 eV  (吸收 300-700 nm)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438144"/>
            <a:ext cx="4572000" cy="374904"/>
          </a:xfrm>
          <a:prstGeom prst="rect">
            <a:avLst/>
          </a:prstGeom>
          <a:solidFill>
            <a:srgbClr val="66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电子传输层 (ETL)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4198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C₆₀, PCBM, SnO₂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840480"/>
            <a:ext cx="4572000" cy="374904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隧穿复合层 / 互联层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822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ITO / AZO / 超薄金属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242816"/>
            <a:ext cx="4572000" cy="374904"/>
          </a:xfrm>
          <a:prstGeom prst="rect">
            <a:avLst/>
          </a:prstGeom>
          <a:solidFill>
            <a:srgbClr val="66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空穴传输层 (HTL)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2245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PEDOT:PSS, NiOx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645152"/>
            <a:ext cx="4572000" cy="37490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窄带隙钙钛矿底电池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6268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~1.20-1.30 eV  (吸收 700-1100 nm)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047488"/>
            <a:ext cx="4572000" cy="374904"/>
          </a:xfrm>
          <a:prstGeom prst="rect">
            <a:avLst/>
          </a:prstGeom>
          <a:solidFill>
            <a:srgbClr val="66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电子传输层 (ETL)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C₆₀ / BCP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449824"/>
            <a:ext cx="4572000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200" b="0">
                <a:solidFill>
                  <a:srgbClr val="1A1A2E"/>
                </a:solidFill>
                <a:latin typeface="Microsoft YaHei"/>
              </a:defRPr>
            </a:pPr>
            <a:r>
              <a:t>金属电极 (Ag/Cu/Au)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D700"/>
                </a:solidFill>
                <a:latin typeface="Microsoft YaHei"/>
              </a:defRPr>
            </a:pPr>
            <a:r>
              <a:t>☀ 太阳光入射方向 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669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共 10+ 层薄膜堆叠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总厚度 &lt; 3 μm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217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• 溶液法 + 蒸镀法结合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6400800"/>
            <a:ext cx="5669280" cy="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65379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FF"/>
                </a:solidFill>
                <a:latin typeface="Microsoft YaHe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5989320" y="6903720"/>
            <a:ext cx="5212080" cy="-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78992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FFF"/>
                </a:solidFill>
                <a:latin typeface="Microsoft YaHei"/>
              </a:defRPr>
            </a:pPr>
            <a:r>
              <a:t>顶电池 Eg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2057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1.75-1.85 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23957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吸收 300-700 nm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Microsoft YaHei"/>
              </a:defRPr>
            </a:pPr>
            <a:r>
              <a:t>底电池 Eg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3154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1.20-1.30 eV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34930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吸收 700-1100 nm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4023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Microsoft YaHei"/>
              </a:defRPr>
            </a:pPr>
            <a:r>
              <a:t>理想 Jsc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4251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~15-16 mA/cm²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45902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电流匹配条件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5120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Microsoft YaHei"/>
              </a:defRPr>
            </a:pPr>
            <a:r>
              <a:t>理论 Voc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5349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&gt; 2.1 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56875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CCCCC"/>
                </a:solidFill>
                <a:latin typeface="Microsoft YaHei"/>
              </a:defRPr>
            </a:pPr>
            <a:r>
              <a:t>双结叠加优势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6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宽带隙钙钛矿：高 Br 含量引发的挑战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Wide-Bandgap Perovskite: Phase Segregation &amp; Voltage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带隙调节策略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ABX₃ 结构中 X 位卤素混合调控 Eg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MAPb(I₁₋ₓBrₓ)₃:  x 从 0→1, Eg 从 1.55→2.30 eV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叠层顶电池目标：Eg ~1.75-1.85 eV → x~0.3-0.4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问题：高 Br 含量 → 光致卤素相分离 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光致卤素相分离 (Hoke Effect)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6177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光照下 I-rich 和 Br-rich 相分离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MAPb(I₀.₆Br₀.₄)₃ → I-rich (Eg↓) + Br-rich (Eg↑)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后果：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① 低 Eg 相成为载流子陷阱/复合中心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② Voc 持续下降，性能退化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③ 带隙分布不均，光谱响应畸变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机理：极化子诱导 / 晶格应变 / 卤素空位迁移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FF"/>
                </a:solidFill>
                <a:latin typeface="Microsoft YaHei"/>
              </a:defRPr>
            </a:pPr>
            <a:r>
              <a:t>缓解策略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1460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1. A 位阳离子工程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Cs⁺/FA⁺/MA⁺ 混合 → 抑制离子迁移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如 Cs₀.₂FA₀.₈Pb(I₀.₆Br₀.₄)₃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2. 添加剂工程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K⁺, Rb⁺ 钝化晶界缺陷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PEAI, BAI 等大阳离子 → 2D/3D 异质结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MACl 辅助结晶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3. 三维/低维异质结构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表面 2D 层 → 抑制卤素迁移通道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形成能量势垒，稳定体相组成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4. 晶粒尺寸与应变工程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大晶粒 → 减少晶界迁移路径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组分梯度钝化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7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窄带隙 Sn-Pb 钙钛矿：低带隙的关键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Narrow-Bandgap Perovskite: The Sn-Pb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Sn-Pb 混合策略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纯 Pb 钙钛矿最低 Eg ~1.48 eV (FAPbI₃)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→ 对叠层底电池来说带隙偏高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引入 Sn 替代 Pb → 带隙进一步降低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MASnₓPb₁₋ₓI₃: x↑ → Eg↓ (最低 ~1.20 eV)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最佳底电池 Eg: 1.20-1.25 eV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理想 Sn 含量：25-50% Pb 替代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434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核心挑战：Sn²⁺ 氧化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8006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Sn²⁺ → Sn⁴⁺ 极易氧化 (空气中数分钟)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→ 形成 Sn 空位 (p 型掺杂严重)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→ 载流子寿命短，Voc 损失大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解决策略：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① SnF₂ / SnCl₂ 添加剂 (提供过量 Sn²⁺)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② 还原性添加剂 (Sn⁰ 粉, 金属 Sn)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③ 抗氧化剂 (抗坏血酸, HPA, etc.)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④ 惰性气氛下制备 (N₂ glovebox)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5029200" cy="429768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FF"/>
                </a:solidFill>
                <a:latin typeface="Microsoft YaHei"/>
              </a:defRPr>
            </a:pPr>
            <a:r>
              <a:t>最新突破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14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1. 组分优化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FA₀.₇MA₀.₃Pb₀.₅Sn₀.₅I₃ 基准组分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Cs⁺ / Gua⁺ 稳定钙钛矿相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2. 添加剂协同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SnF₂ + 金属 Sn 粉 + NH₄SCN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大幅提升载流子寿命 (&gt;1 μs)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3. 2D/3D 异质结钝化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PEAI / BAI 表面处理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减少表面 Sn 空位缺陷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4. 性能里程碑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单结 Sn-Pb PSC: &gt; 23%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载流子扩散长度 &gt; 3 μm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• Voc deficit &lt; 0.40 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8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互联层 (ICL) 与隧穿复合结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Interconnection Layer: The Critical Junction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210312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FF"/>
                </a:solidFill>
                <a:latin typeface="Microsoft YaHei"/>
              </a:defRPr>
            </a:pPr>
            <a:r>
              <a:t>互联层的核心功能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5720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串联子电池的关键界面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要求：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① 低电阻欧姆接触 → 高效载流子复合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② 高透光率 → 不影响底电池光吸收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③ 化学惰性 → 不破坏下方钙钛矿层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④ 低横向电导 → 避免分流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本质：电子/空穴的隧穿复合中心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210312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48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常见 ICL 体系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514600"/>
            <a:ext cx="47548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超薄金属层：Au (~1 nm) / Ag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优点：简单  |  缺点：寄生吸收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透明导电氧化物 (TCO)：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ITO (溅射), AZO (ALD), IZO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→ 目前主流方案，光学/电学兼顾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复合层 + TCO 叠层：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C₆₀ / SnO₂ / ITO 或 PEI / ITO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新兴方案：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MoOₓ / ITO, 超薄 Ag / AZO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698480" cy="201168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ICL 工程的关键进展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9204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溅射损伤问题 → ALD 低温生长 ITO/AZO，保护下方有机层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光学管理 → 调控 ICL 厚度优化干涉效应，增强底电池光吸收（光学 spacer 效应）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复合效率 → 通过掺杂调控功函数，确保 ETL(顶)/HTL(底) 能带对齐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大面积均匀性 → 原子层沉积 ALD 保证 pinhole-free，实现 cm² 级均匀隧穿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9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全钙钛矿叠层效率纪录演进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Efficiency Progress of All-Perovskite Tandems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10515600" cy="36576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057400"/>
            <a:ext cx="182880" cy="18288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FFF"/>
                </a:solidFill>
                <a:latin typeface="Microsoft YaHei"/>
              </a:defRPr>
            </a:pPr>
            <a:r>
              <a:t>2016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14.1%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Stanford / MIT</a:t>
            </a:r>
            <a:br/>
            <a:r>
              <a:t>首个全钙钛矿四端叠层</a:t>
            </a:r>
          </a:p>
        </p:txBody>
      </p:sp>
      <p:sp>
        <p:nvSpPr>
          <p:cNvPr id="11" name="Oval 10"/>
          <p:cNvSpPr/>
          <p:nvPr/>
        </p:nvSpPr>
        <p:spPr>
          <a:xfrm>
            <a:off x="2331720" y="2057400"/>
            <a:ext cx="182880" cy="18288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FFF"/>
                </a:solidFill>
                <a:latin typeface="Microsoft YaHei"/>
              </a:defRPr>
            </a:pPr>
            <a:r>
              <a:t>2019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331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23.1%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9748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NREL</a:t>
            </a:r>
            <a:br/>
            <a:r>
              <a:t>Sn-Pb 底电池突破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0" y="2057400"/>
            <a:ext cx="182880" cy="18288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FFF"/>
                </a:solidFill>
                <a:latin typeface="Microsoft YaHei"/>
              </a:defRPr>
            </a:pPr>
            <a: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331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24.8%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69748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南京大学</a:t>
            </a:r>
            <a:br/>
            <a:r>
              <a:t>FA-Cs 宽带隙+Sn-Pb</a:t>
            </a:r>
          </a:p>
        </p:txBody>
      </p:sp>
      <p:sp>
        <p:nvSpPr>
          <p:cNvPr id="19" name="Oval 18"/>
          <p:cNvSpPr/>
          <p:nvPr/>
        </p:nvSpPr>
        <p:spPr>
          <a:xfrm>
            <a:off x="4983479" y="2057400"/>
            <a:ext cx="182880" cy="18288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59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FFF"/>
                </a:solidFill>
                <a:latin typeface="Microsoft YaHei"/>
              </a:defRPr>
            </a:pPr>
            <a:r>
              <a:t>2021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2331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26.4%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269748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KAUST</a:t>
            </a:r>
            <a:br/>
            <a:r>
              <a:t>组分+添加剂协同优化</a:t>
            </a:r>
          </a:p>
        </p:txBody>
      </p:sp>
      <p:sp>
        <p:nvSpPr>
          <p:cNvPr id="23" name="Oval 22"/>
          <p:cNvSpPr/>
          <p:nvPr/>
        </p:nvSpPr>
        <p:spPr>
          <a:xfrm>
            <a:off x="6309359" y="2057400"/>
            <a:ext cx="182880" cy="18288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FFF"/>
                </a:solidFill>
                <a:latin typeface="Microsoft YaHei"/>
              </a:defRPr>
            </a:pPr>
            <a:r>
              <a:t>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331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28.0%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59" y="269748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南京大学</a:t>
            </a:r>
            <a:br/>
            <a:r>
              <a:t>大面积认证效率突破</a:t>
            </a:r>
          </a:p>
        </p:txBody>
      </p:sp>
      <p:sp>
        <p:nvSpPr>
          <p:cNvPr id="27" name="Oval 26"/>
          <p:cNvSpPr/>
          <p:nvPr/>
        </p:nvSpPr>
        <p:spPr>
          <a:xfrm>
            <a:off x="7635240" y="2057400"/>
            <a:ext cx="182880" cy="18288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FFF"/>
                </a:solidFill>
                <a:latin typeface="Microsoft YaHei"/>
              </a:defRPr>
            </a:pPr>
            <a:r>
              <a:t>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2331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29.1%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269748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KAUST / UNIST</a:t>
            </a:r>
            <a:br/>
            <a:r>
              <a:t>&gt;29% 认证效率里程碑</a:t>
            </a:r>
          </a:p>
        </p:txBody>
      </p:sp>
      <p:sp>
        <p:nvSpPr>
          <p:cNvPr id="31" name="Oval 30"/>
          <p:cNvSpPr/>
          <p:nvPr/>
        </p:nvSpPr>
        <p:spPr>
          <a:xfrm>
            <a:off x="8961120" y="2057400"/>
            <a:ext cx="182880" cy="182880"/>
          </a:xfrm>
          <a:prstGeom prst="ellipse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FFF"/>
                </a:solidFill>
                <a:latin typeface="Microsoft YaHei"/>
              </a:defRPr>
            </a:pPr>
            <a:r>
              <a:t>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331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30.2%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69748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南京大学</a:t>
            </a:r>
            <a:br/>
            <a:r>
              <a:t>首超30% 全钙钛矿叠层</a:t>
            </a:r>
          </a:p>
        </p:txBody>
      </p:sp>
      <p:sp>
        <p:nvSpPr>
          <p:cNvPr id="35" name="Oval 34"/>
          <p:cNvSpPr/>
          <p:nvPr/>
        </p:nvSpPr>
        <p:spPr>
          <a:xfrm>
            <a:off x="10287000" y="2057400"/>
            <a:ext cx="182880" cy="1828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BFFF"/>
                </a:solidFill>
                <a:latin typeface="Microsoft YaHei"/>
              </a:defRPr>
            </a:pPr>
            <a:r>
              <a:t>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23317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&gt;30.5%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2697480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CCCCC"/>
                </a:solidFill>
                <a:latin typeface="Microsoft YaHei"/>
              </a:defRPr>
            </a:pPr>
            <a:r>
              <a:t>多课题组</a:t>
            </a:r>
            <a:br/>
            <a:r>
              <a:t>大面积+柔性方向并进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效率从 14.1% → 30.5%+ ，仅用 10 年！增速超越晶硅与钙钛矿/晶硅叠层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5720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FF"/>
                </a:solidFill>
                <a:latin typeface="Microsoft YaHei"/>
              </a:defRPr>
            </a:pPr>
            <a:r>
              <a:t>效率对比 (2025)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0749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晶硅单结:      ~27.3% (LONGi)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钙钛矿单结:    ~26.7% (认证)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钙钛矿/晶硅叠层: ~34.6% (LONGi)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全钙钛矿叠层:  ~30.5%+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→ 全钙钛矿在无硅基底情况下已经突破30%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5720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4709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关键特征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0749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全溶液法制备，成本远低于晶硅/III-V族叠层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可制备在柔性基底上 → 轻质、柔性应用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理论效率上限 ~45%，仍有巨大提升空间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大面积 (cm²级) 效率正在追赶小面积纪录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中国在领域内处于世界领先地位 (南大、北大等)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10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稳定性与规模化：从实验室到产业化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Stability &amp; Scalability: From Lab to Fab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稳定性挑战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湿度/氧气 → 钙钛矿分解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热应力 → 相变、组分挥发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(MA⁺, I⁻ 热稳定性差)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光照 → 相分离 (WBG)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Sn²⁺氧化 (NBG)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电场 → 离子迁移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电极腐蚀 → ITO-In, Ag-I 反应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封装是必须的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FF"/>
                </a:solidFill>
                <a:latin typeface="Microsoft YaHei"/>
              </a:defRPr>
            </a:pPr>
            <a:r>
              <a:t>稳定性提升策略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1460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全无机 / Cs-FA 体系替代 MA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2D/3D 异质结 → 防潮层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离子液体添加剂 (IL)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碳基电极替代金属电极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ALD 封装 (Al₂O₃, SiNₓ)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自修复聚合物封装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IEC 61215 标准测试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(湿热/热循环/UV 老化)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大面积制备方法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51460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旋涂法 → 刮涂 (Blade coating)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狭缝涂布 (Slot-die coating)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喷涂 (Spray coating)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气相沉积 (蒸镀 + CVD)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卷对卷 (R2R) 柔性制备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模块化 (Module) 设计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→ 消除死区面积损失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激光划线 P1-P2-P3 工艺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80560"/>
            <a:ext cx="10698480" cy="201168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177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产业化现状与展望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98348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领先企业已开始中试线建设 → 协鑫、极电光能、Oxford PV (钙钛矿/硅)、Swift Solar (全钙钛矿)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2024-2025 年全球多家公司公布叠层组件量产计划，目标效率 &gt; 25% 组件级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全钙钛矿叠层独特优势 → 柔性轻质、可溶液法一体化制备，是唯一有望实现 &lt; $0.10/W 成本的叠层路线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关键产业化瓶颈：① 大面积均匀性  ② 长期户外稳定性 (&gt;25 年)  ③ 铅毒性与回收  ④ 标准化测试认证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11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核心挑战与应对策略总结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Summary of Key Challenges and Strategies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FF"/>
                </a:solidFill>
                <a:latin typeface="Microsoft Ya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FFF"/>
                </a:solidFill>
                <a:latin typeface="Microsoft YaHei"/>
              </a:defRPr>
            </a:pPr>
            <a:r>
              <a:t>宽带隙钙钛矿</a:t>
            </a:r>
            <a:br/>
            <a:r>
              <a:t>光致相分离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组分工程 (Cs/FA混合)</a:t>
            </a:r>
            <a:br/>
            <a:r>
              <a:t>• 2D/3D异质结</a:t>
            </a:r>
            <a:br/>
            <a:r>
              <a:t>• 添加剂钝化</a:t>
            </a:r>
            <a:br/>
            <a:r>
              <a:t>• 晶格应变调控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0116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Microsoft YaHe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794760" y="2514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49040" y="2148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6B35"/>
                </a:solidFill>
                <a:latin typeface="Microsoft YaHei"/>
              </a:defRPr>
            </a:pPr>
            <a:r>
              <a:t>Sn-Pb钙钛矿</a:t>
            </a:r>
            <a:br/>
            <a:r>
              <a:t>Sn²⁺氧化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1089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还原性添加剂</a:t>
            </a:r>
            <a:br/>
            <a:r>
              <a:t>• 惰性气氛制备</a:t>
            </a:r>
            <a:br/>
            <a:r>
              <a:t>• 表面钝化层</a:t>
            </a:r>
            <a:br/>
            <a:r>
              <a:t>• 全无机Cs基探索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116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FF"/>
                </a:solidFill>
                <a:latin typeface="Microsoft YaHe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629400" y="2514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0" y="2148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BFFF"/>
                </a:solidFill>
                <a:latin typeface="Microsoft YaHei"/>
              </a:defRPr>
            </a:pPr>
            <a:r>
              <a:t>互联层</a:t>
            </a:r>
            <a:br/>
            <a:r>
              <a:t>光学/电学损耗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089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ALD-TCO 低温生长</a:t>
            </a:r>
            <a:br/>
            <a:r>
              <a:t>• 光学spacer设计</a:t>
            </a:r>
            <a:br/>
            <a:r>
              <a:t>• 能带工程调控</a:t>
            </a:r>
            <a:br/>
            <a:r>
              <a:t>• 超薄复合层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0116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148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Microsoft YaHe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464040" y="251460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418320" y="2148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6B35"/>
                </a:solidFill>
                <a:latin typeface="Microsoft YaHei"/>
              </a:defRPr>
            </a:pPr>
            <a:r>
              <a:t>大面积</a:t>
            </a:r>
            <a:br/>
            <a:r>
              <a:t>均匀性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1089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• 刮涂/狭缝涂布</a:t>
            </a:r>
            <a:br/>
            <a:r>
              <a:t>• 气相法辅助</a:t>
            </a:r>
            <a:br/>
            <a:r>
              <a:t>• 激光划线优化</a:t>
            </a:r>
            <a:br/>
            <a:r>
              <a:t>• 在线监测反馈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297680"/>
            <a:ext cx="10698480" cy="182880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43484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效率损失通道分析与潜力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80060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Voc loss: 目前 Voc ~2.0-2.1 V (理论最大值 ~2.5 V) → 主要来自非辐射复合，改进空间 ~400 mV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FF loss: 目前 FF ~78-82% → 主要来自串联电阻与界面复合，改进空间 ~5-8 abs%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Jsc loss: 目前 Jsc ~15-16 mA/cm² → 反射/寄生吸收/电流不匹配，改进空间 ~2-3 mA/cm²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综合预测：如解决上述 loss → 全钙钛矿叠层可达 ~35-38%，接近理论极限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12 /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Summary &amp; Outlook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84632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1. 全钙钛矿叠层电池是突破单结S-Q极限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最具成本优势的技术路线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2. 效率已突破 30%，10 年提升 16 个百分点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→ 增长速度为所有光伏技术中最快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3. 核心挑战：宽带隙相分离、Sn-Pb氧化、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互联层工程、大面积制备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4. 关键策略：组分/添加剂/界面/维度工程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多手段协同是提升性能的核心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展望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5720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1. 效率目标：2028 年前达到 35%+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2. 稳定性：通过 IEC 61215 全套测试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→ 户外寿命 &gt; 25 年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3. 大面积：从 cm² 到 m² 级组件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→ 组件效率 &gt; 25%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4. 柔性全钙钛矿叠层 → 轻质光伏新应用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   (BIPV, 可穿戴, 无人机, 航天)</a:t>
            </a: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5. 全铅-free Sn 基叠层 → 环保终极方案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29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6B35"/>
                </a:solidFill>
                <a:latin typeface="Microsoft YaHei"/>
              </a:defRPr>
            </a:pPr>
            <a:r>
              <a:t>"全钙钛矿叠层太阳能电池代表了光伏技术的下一个前沿——</a:t>
            </a:r>
            <a:br/>
            <a:r>
              <a:t>它可能成为最廉价的超高效率太阳能电池技术路径。"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谢谢！欢迎提问  |  Thank you! Questions &amp; Discussion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